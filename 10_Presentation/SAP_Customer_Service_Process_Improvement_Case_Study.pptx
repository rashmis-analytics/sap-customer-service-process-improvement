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84" y="4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rit Srivastava" userId="4a5a3569-5149-4d21-bc60-a8efd2be16ac" providerId="ADAL" clId="{2A497143-FF26-45D4-BAD6-CCF0503B4C40}"/>
    <pc:docChg chg="custSel modSld">
      <pc:chgData name="Samprit Srivastava" userId="4a5a3569-5149-4d21-bc60-a8efd2be16ac" providerId="ADAL" clId="{2A497143-FF26-45D4-BAD6-CCF0503B4C40}" dt="2026-09-05T20:04:13.217" v="25" actId="26606"/>
      <pc:docMkLst>
        <pc:docMk/>
      </pc:docMkLst>
      <pc:sldChg chg="addSp mod">
        <pc:chgData name="Samprit Srivastava" userId="4a5a3569-5149-4d21-bc60-a8efd2be16ac" providerId="ADAL" clId="{2A497143-FF26-45D4-BAD6-CCF0503B4C40}" dt="2026-09-05T19:54:17.099" v="16" actId="26606"/>
        <pc:sldMkLst>
          <pc:docMk/>
          <pc:sldMk cId="0" sldId="256"/>
        </pc:sldMkLst>
        <pc:spChg chg="add">
          <ac:chgData name="Samprit Srivastava" userId="4a5a3569-5149-4d21-bc60-a8efd2be16ac" providerId="ADAL" clId="{2A497143-FF26-45D4-BAD6-CCF0503B4C40}" dt="2026-09-05T19:54:17.099" v="16" actId="26606"/>
          <ac:spMkLst>
            <pc:docMk/>
            <pc:sldMk cId="0" sldId="256"/>
            <ac:spMk id="22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52:26.398" v="15" actId="26606"/>
        <pc:sldMkLst>
          <pc:docMk/>
          <pc:sldMk cId="0" sldId="257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8:46.220" v="14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2:26.398" v="15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2:26.398" v="15" actId="26606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20:00:26.115" v="19" actId="26606"/>
        <pc:sldMkLst>
          <pc:docMk/>
          <pc:sldMk cId="0" sldId="258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0:26.115" v="19" actId="26606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44:21.567" v="12" actId="26606"/>
        <pc:sldMkLst>
          <pc:docMk/>
          <pc:sldMk cId="0" sldId="259"/>
        </pc:sldMkLst>
        <pc:spChg chg="mod">
          <ac:chgData name="Samprit Srivastava" userId="4a5a3569-5149-4d21-bc60-a8efd2be16ac" providerId="ADAL" clId="{2A497143-FF26-45D4-BAD6-CCF0503B4C40}" dt="2026-09-05T19:43:10.808" v="11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1:56.131" v="10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1:56.131" v="10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1:56.131" v="10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4:21.567" v="12" actId="26606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47:25.635" v="13" actId="26606"/>
        <pc:sldMkLst>
          <pc:docMk/>
          <pc:sldMk cId="0" sldId="260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47:25.635" v="13" actId="26606"/>
        <pc:sldMkLst>
          <pc:docMk/>
          <pc:sldMk cId="0" sldId="261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02.745" v="4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06.119" v="5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09.576" v="6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12.007" v="7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13.693" v="8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0:15.710" v="9" actId="1410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2:49.762" v="0" actId="26606"/>
          <ac:spMkLst>
            <pc:docMk/>
            <pc:sldMk cId="0" sldId="261"/>
            <ac:spMk id="3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2:49.762" v="0" actId="2660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2:49.762" v="0" actId="2660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2:49.762" v="0" actId="26606"/>
          <ac:spMkLst>
            <pc:docMk/>
            <pc:sldMk cId="0" sldId="261"/>
            <ac:spMk id="36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2:49.762" v="0" actId="26606"/>
          <ac:spMkLst>
            <pc:docMk/>
            <pc:sldMk cId="0" sldId="261"/>
            <ac:spMk id="37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20:02:41.247" v="24" actId="255"/>
        <pc:sldMkLst>
          <pc:docMk/>
          <pc:sldMk cId="0" sldId="262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1:57.938" v="20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2:41.247" v="24" actId="25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2:26.076" v="22" actId="255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58:50.398" v="18" actId="26606"/>
        <pc:sldMkLst>
          <pc:docMk/>
          <pc:sldMk cId="0" sldId="263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9:54.751" v="3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6:55.385" v="17" actId="2660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39:41.912" v="1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58:50.398" v="18" actId="26606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19:47:25.635" v="13" actId="26606"/>
        <pc:sldMkLst>
          <pc:docMk/>
          <pc:sldMk cId="0" sldId="264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4"/>
            <ac:spMk id="26" creationId="{00000000-0000-0000-0000-000000000000}"/>
          </ac:spMkLst>
        </pc:spChg>
      </pc:sldChg>
      <pc:sldChg chg="modSp mod">
        <pc:chgData name="Samprit Srivastava" userId="4a5a3569-5149-4d21-bc60-a8efd2be16ac" providerId="ADAL" clId="{2A497143-FF26-45D4-BAD6-CCF0503B4C40}" dt="2026-09-05T20:04:13.217" v="25" actId="26606"/>
        <pc:sldMkLst>
          <pc:docMk/>
          <pc:sldMk cId="0" sldId="265"/>
        </pc:sldMkLst>
        <pc:spChg chg="mod">
          <ac:chgData name="Samprit Srivastava" userId="4a5a3569-5149-4d21-bc60-a8efd2be16ac" providerId="ADAL" clId="{2A497143-FF26-45D4-BAD6-CCF0503B4C40}" dt="2026-09-05T19:47:25.635" v="13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amprit Srivastava" userId="4a5a3569-5149-4d21-bc60-a8efd2be16ac" providerId="ADAL" clId="{2A497143-FF26-45D4-BAD6-CCF0503B4C40}" dt="2026-09-05T20:04:13.217" v="25" actId="26606"/>
          <ac:spMkLst>
            <pc:docMk/>
            <pc:sldMk cId="0" sldId="265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39624"/>
            <a:ext cx="1069848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ptos"/>
              </a:rPr>
              <a:t>SAP Customer Service</a:t>
            </a:r>
            <a:br>
              <a:rPr dirty="0"/>
            </a:br>
            <a:r>
              <a:rPr dirty="0">
                <a:solidFill>
                  <a:schemeClr val="bg1"/>
                </a:solidFill>
              </a:rPr>
              <a:t>Process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1284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2DCEF"/>
                </a:solidFill>
                <a:latin typeface="Aptos"/>
              </a:rPr>
              <a:t>Application Process Management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1417320" cy="621792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AS-IS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1284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3886200"/>
            <a:ext cx="1417320" cy="621792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Fit-Gap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5876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3886200"/>
            <a:ext cx="1417320" cy="621792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TO-BE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468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15000" y="3886200"/>
            <a:ext cx="1417320" cy="621792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Requirements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5060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886200"/>
            <a:ext cx="1417320" cy="621792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Jira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9652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06840" y="3886200"/>
            <a:ext cx="1417320" cy="621792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42448" y="4197096"/>
            <a:ext cx="210312" cy="0"/>
          </a:xfrm>
          <a:prstGeom prst="line">
            <a:avLst/>
          </a:prstGeom>
          <a:ln w="20320">
            <a:solidFill>
              <a:srgbClr val="BE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652760" y="3886200"/>
            <a:ext cx="1417320" cy="621792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SAP Signavio • SAP Service Cloud • SAP S/4HANA • Jira • UAT • Release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1</a:t>
            </a:r>
          </a:p>
        </p:txBody>
      </p:sp>
      <p:sp>
        <p:nvSpPr>
          <p:cNvPr id="22" name="Prepared by credit"/>
          <p:cNvSpPr txBox="1"/>
          <p:nvPr/>
        </p:nvSpPr>
        <p:spPr>
          <a:xfrm>
            <a:off x="768096" y="281635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>
                <a:solidFill>
                  <a:srgbClr val="C2DCEF"/>
                </a:solidFill>
                <a:latin typeface="Aptos"/>
              </a:rPr>
              <a:t>Prepared by  </a:t>
            </a:r>
            <a:r>
              <a:rPr sz="1600" b="1">
                <a:solidFill>
                  <a:srgbClr val="FFFFFF"/>
                </a:solidFill>
                <a:latin typeface="Aptos"/>
              </a:rPr>
              <a:t>Rashmi Srivastava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From an operational Salesforce process to a standardized SAP-supported service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8328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0540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Aptos"/>
              </a:rPr>
              <a:t>BUSINESS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05409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2D3741"/>
                </a:solidFill>
                <a:latin typeface="Aptos"/>
              </a:rPr>
              <a:t>Existing customer service works, but the SAP transition creates an opportunity to standardize information, routing, handovers and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25880"/>
            <a:ext cx="338328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35607"/>
            <a:ext cx="30540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8E8C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5409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>
                <a:solidFill>
                  <a:srgbClr val="2D3741"/>
                </a:solidFill>
                <a:latin typeface="Aptos"/>
              </a:rPr>
              <a:t>Analyze AS-IS → identify gaps → design TO-BE → define requirements → manage representative changes → validate → prepare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325880"/>
            <a:ext cx="338328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435607"/>
            <a:ext cx="30540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E8E37"/>
                </a:solidFill>
                <a:latin typeface="Aptos"/>
              </a:rPr>
              <a:t>ROLE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828800"/>
            <a:ext cx="305409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>
                <a:solidFill>
                  <a:srgbClr val="2D3741"/>
                </a:solidFill>
                <a:latin typeface="Aptos"/>
              </a:rPr>
              <a:t>Application Process Manager bridging business process, users, SAP/application teams, testing and release coordination.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1325880" cy="566928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AS-IS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29967" y="4443984"/>
            <a:ext cx="182881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58568" y="4160520"/>
            <a:ext cx="1325880" cy="566928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Fit-Gap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02735" y="4443984"/>
            <a:ext cx="18288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31335" y="4160520"/>
            <a:ext cx="1325880" cy="566928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TO-BE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75503" y="4443984"/>
            <a:ext cx="18288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04103" y="4160520"/>
            <a:ext cx="1325880" cy="566928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Requirements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48271" y="4443984"/>
            <a:ext cx="18288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76871" y="4160520"/>
            <a:ext cx="1325880" cy="566928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Jira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0" y="4443984"/>
            <a:ext cx="182879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549640" y="4160520"/>
            <a:ext cx="1325880" cy="566928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UAT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93808" y="4443984"/>
            <a:ext cx="18288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22408" y="4160520"/>
            <a:ext cx="1325880" cy="566928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6636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D3741"/>
                </a:solidFill>
                <a:latin typeface="Aptos"/>
              </a:rPr>
              <a:t>Core principle: business problem first, system second. The case study demonstrates process/application management—not productive SAP configuration.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2. AS-IS Customer Service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Current-state discovery and BPMN modelling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600200" cy="749808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Customer</a:t>
            </a:r>
            <a:br/>
            <a:r>
              <a:t>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58568" y="1883664"/>
            <a:ext cx="192023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508760"/>
            <a:ext cx="1600200" cy="749808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Salesforce</a:t>
            </a:r>
            <a:br/>
            <a:r>
              <a:t>Case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33087" y="1883664"/>
            <a:ext cx="192025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08760"/>
            <a:ext cx="1600200" cy="749808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Review &amp;</a:t>
            </a:r>
            <a:br/>
            <a:r>
              <a:t>Classify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07608" y="1883664"/>
            <a:ext cx="192023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508760"/>
            <a:ext cx="1600200" cy="749808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Remote</a:t>
            </a:r>
            <a:br/>
            <a:r>
              <a:t>Diagnosis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2127" y="1883664"/>
            <a:ext cx="192025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59" y="1508760"/>
            <a:ext cx="1600200" cy="749808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Field Service</a:t>
            </a:r>
            <a:br/>
            <a:r>
              <a:t>if needed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7" y="1883664"/>
            <a:ext cx="192025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1508760"/>
            <a:ext cx="1600200" cy="749808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Resolution &amp;</a:t>
            </a:r>
            <a:br/>
            <a:r>
              <a:t>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Observed improvement opportunities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242316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172968"/>
            <a:ext cx="2093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E4E4E"/>
                </a:solidFill>
                <a:latin typeface="Aptos"/>
              </a:rPr>
              <a:t>Incomplete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566160"/>
            <a:ext cx="20939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Clarification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3063240"/>
            <a:ext cx="242316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66744" y="3172968"/>
            <a:ext cx="2093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E4E4E"/>
                </a:solidFill>
                <a:latin typeface="Aptos"/>
              </a:rPr>
              <a:t>Incorrect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3566160"/>
            <a:ext cx="20939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Manual reassignment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3063240"/>
            <a:ext cx="242316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3096" y="3172968"/>
            <a:ext cx="2093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E4E4E"/>
                </a:solidFill>
                <a:latin typeface="Aptos"/>
              </a:rPr>
              <a:t>Variable FS 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566160"/>
            <a:ext cx="20939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Planning rework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3063240"/>
            <a:ext cx="242316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3172968"/>
            <a:ext cx="209397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E4E4E"/>
                </a:solidFill>
                <a:latin typeface="Aptos"/>
              </a:rPr>
              <a:t>Limited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566160"/>
            <a:ext cx="20939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Manual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D3741"/>
                </a:solidFill>
                <a:latin typeface="Aptos"/>
              </a:rPr>
              <a:t>The AS-IS was treated as a working baseline—not a “broken system.” This avoids turning every Salesforce/SAP difference into an artificial gap.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5532120"/>
            <a:ext cx="3886200" cy="566928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Modelled in SAP Signavio using BPMN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3. Fit-Gap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 dirty="0" err="1">
                <a:solidFill>
                  <a:srgbClr val="6C7780"/>
                </a:solidFill>
                <a:latin typeface="Aptos"/>
              </a:rPr>
              <a:t>Prioritizing</a:t>
            </a:r>
            <a:r>
              <a:rPr lang="de-DE" sz="1400" b="0" dirty="0">
                <a:solidFill>
                  <a:srgbClr val="6C7780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6C7780"/>
                </a:solidFill>
                <a:latin typeface="Aptos"/>
              </a:rPr>
              <a:t>business</a:t>
            </a:r>
            <a:r>
              <a:rPr lang="de-DE" sz="1400" b="0" dirty="0">
                <a:solidFill>
                  <a:srgbClr val="6C7780"/>
                </a:solidFill>
                <a:latin typeface="Aptos"/>
              </a:rPr>
              <a:t>/</a:t>
            </a:r>
            <a:r>
              <a:rPr lang="de-DE" sz="1400" b="0" dirty="0" err="1">
                <a:solidFill>
                  <a:srgbClr val="6C7780"/>
                </a:solidFill>
                <a:latin typeface="Aptos"/>
              </a:rPr>
              <a:t>process</a:t>
            </a:r>
            <a:r>
              <a:rPr lang="de-DE" sz="1400" b="0" dirty="0">
                <a:solidFill>
                  <a:srgbClr val="6C7780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6C7780"/>
                </a:solidFill>
                <a:latin typeface="Aptos"/>
              </a:rPr>
              <a:t>improvements</a:t>
            </a:r>
            <a:endParaRPr lang="de-DE" sz="1400" b="0" dirty="0">
              <a:solidFill>
                <a:srgbClr val="6C778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874519" cy="530352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711487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2D3741"/>
                </a:solidFill>
                <a:latin typeface="Aptos"/>
              </a:rPr>
              <a:t>Existing behavior can largely continue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1874519" cy="530352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PARTIAL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534447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 dirty="0">
                <a:solidFill>
                  <a:srgbClr val="2D3741"/>
                </a:solidFill>
                <a:latin typeface="Aptos"/>
              </a:rPr>
              <a:t>Transition </a:t>
            </a:r>
            <a:r>
              <a:rPr lang="de-DE" sz="1400" b="0" dirty="0" err="1">
                <a:solidFill>
                  <a:srgbClr val="2D3741"/>
                </a:solidFill>
                <a:latin typeface="Aptos"/>
              </a:rPr>
              <a:t>or</a:t>
            </a:r>
            <a:r>
              <a:rPr lang="de-DE" sz="1400" b="0" dirty="0">
                <a:solidFill>
                  <a:srgbClr val="2D3741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2D3741"/>
                </a:solidFill>
                <a:latin typeface="Aptos"/>
              </a:rPr>
              <a:t>improvement</a:t>
            </a:r>
            <a:r>
              <a:rPr lang="de-DE" sz="1400" b="0" dirty="0">
                <a:solidFill>
                  <a:srgbClr val="2D3741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2D3741"/>
                </a:solidFill>
                <a:latin typeface="Aptos"/>
              </a:rPr>
              <a:t>needed</a:t>
            </a:r>
            <a:endParaRPr lang="de-DE" sz="1400" b="0" dirty="0">
              <a:solidFill>
                <a:srgbClr val="2D374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246120"/>
            <a:ext cx="1874519" cy="530352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357407"/>
            <a:ext cx="3794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2D3741"/>
                </a:solidFill>
                <a:latin typeface="Aptos"/>
              </a:rPr>
              <a:t>Business need requires defined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508760"/>
            <a:ext cx="4343400" cy="233172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5472" y="1618488"/>
            <a:ext cx="40142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Aptos"/>
              </a:rPr>
              <a:t>HIGH-PRIORITY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011680"/>
            <a:ext cx="4014215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b="0" dirty="0">
                <a:solidFill>
                  <a:srgbClr val="2D3741"/>
                </a:solidFill>
                <a:latin typeface="Aptos"/>
              </a:rPr>
              <a:t>FG-01  </a:t>
            </a:r>
            <a:r>
              <a:rPr lang="de-DE" b="0" dirty="0" err="1">
                <a:solidFill>
                  <a:srgbClr val="2D3741"/>
                </a:solidFill>
                <a:latin typeface="Aptos"/>
              </a:rPr>
              <a:t>Mandatory</a:t>
            </a:r>
            <a:r>
              <a:rPr lang="de-DE" b="0" dirty="0">
                <a:solidFill>
                  <a:srgbClr val="2D3741"/>
                </a:solidFill>
                <a:latin typeface="Aptos"/>
              </a:rPr>
              <a:t> </a:t>
            </a:r>
            <a:r>
              <a:rPr lang="de-DE" b="0" dirty="0" err="1">
                <a:solidFill>
                  <a:srgbClr val="2D3741"/>
                </a:solidFill>
                <a:latin typeface="Aptos"/>
              </a:rPr>
              <a:t>request</a:t>
            </a:r>
            <a:r>
              <a:rPr lang="de-DE" b="0" dirty="0">
                <a:solidFill>
                  <a:srgbClr val="2D3741"/>
                </a:solidFill>
                <a:latin typeface="Aptos"/>
              </a:rPr>
              <a:t> </a:t>
            </a:r>
            <a:r>
              <a:rPr lang="de-DE" b="0" dirty="0" err="1">
                <a:solidFill>
                  <a:srgbClr val="2D3741"/>
                </a:solidFill>
                <a:latin typeface="Aptos"/>
              </a:rPr>
              <a:t>information</a:t>
            </a:r>
            <a:br>
              <a:rPr dirty="0"/>
            </a:br>
            <a:r>
              <a:rPr dirty="0"/>
              <a:t>FG-05  Rule-based case routing</a:t>
            </a:r>
            <a:br>
              <a:rPr dirty="0"/>
            </a:br>
            <a:r>
              <a:rPr dirty="0"/>
              <a:t>FG-09  Standardized FS handover</a:t>
            </a:r>
            <a:br>
              <a:rPr dirty="0"/>
            </a:br>
            <a:r>
              <a:rPr dirty="0"/>
              <a:t>FG-10  FS readiness validation</a:t>
            </a:r>
            <a:br>
              <a:rPr dirty="0"/>
            </a:br>
            <a:r>
              <a:rPr dirty="0"/>
              <a:t>FG-13  End-to-end status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4340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Example improvement chain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92040"/>
            <a:ext cx="2148840" cy="822960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AS-IS</a:t>
            </a:r>
            <a:br/>
            <a:r>
              <a:t>Incorrect assignment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0088" y="5303520"/>
            <a:ext cx="32004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29000" y="4892040"/>
            <a:ext cx="2148840" cy="82296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FG-05</a:t>
            </a:r>
            <a:br/>
            <a:r>
              <a:t>Routing gap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96128" y="5303520"/>
            <a:ext cx="32004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4892040"/>
            <a:ext cx="2148840" cy="82296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TO-BE</a:t>
            </a:r>
            <a:br/>
            <a:r>
              <a:t>Defined routing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02167" y="5303520"/>
            <a:ext cx="320041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4892040"/>
            <a:ext cx="2148840" cy="82296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ACTION</a:t>
            </a:r>
            <a:br/>
            <a:r>
              <a:t>Routing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4. Target SAP Service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Conceptual TO-BE architecture and responsibility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554480" cy="77724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Customer</a:t>
            </a:r>
            <a:br/>
            <a: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199" y="1572768"/>
            <a:ext cx="2333897" cy="137160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SAP Service Cloud</a:t>
            </a:r>
            <a:br>
              <a:rPr dirty="0"/>
            </a:br>
            <a:br>
              <a:rPr dirty="0"/>
            </a:br>
            <a:r>
              <a:rPr dirty="0"/>
              <a:t>Case management • routing</a:t>
            </a:r>
            <a:br>
              <a:rPr dirty="0"/>
            </a:br>
            <a:r>
              <a:rPr dirty="0"/>
              <a:t>agent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70735" y="1495695"/>
            <a:ext cx="2815916" cy="13716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SAP S/4HANA</a:t>
            </a:r>
            <a:br>
              <a:rPr dirty="0"/>
            </a:br>
            <a:br>
              <a:rPr dirty="0"/>
            </a:br>
            <a:r>
              <a:rPr dirty="0"/>
              <a:t>Customer/equipment</a:t>
            </a:r>
            <a:br>
              <a:rPr dirty="0"/>
            </a:br>
            <a:r>
              <a:rPr dirty="0"/>
              <a:t>service/backend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7128" y="2267712"/>
            <a:ext cx="530352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10912" y="2011680"/>
            <a:ext cx="749808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010912" y="2487168"/>
            <a:ext cx="749808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4069080"/>
            <a:ext cx="2194560" cy="91440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Field Service</a:t>
            </a:r>
            <a:br/>
            <a:r>
              <a:t>Dispatcher / Planner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069080"/>
            <a:ext cx="2194560" cy="91440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Field Technician</a:t>
            </a:r>
            <a:br/>
            <a:r>
              <a:t>On-site execution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971800"/>
            <a:ext cx="868680" cy="105156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4526280"/>
            <a:ext cx="109728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D3741"/>
                </a:solidFill>
                <a:latin typeface="Aptos"/>
              </a:rPr>
              <a:t>Field Service is conditional: triggered only when physical inspection, repair, replacement or another on-site activity is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5. TO-BE Process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6C7780"/>
                </a:solidFill>
                <a:latin typeface="Aptos"/>
              </a:rPr>
              <a:t>Standardization before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508760" cy="59436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1104" y="2450592"/>
            <a:ext cx="1304544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Mandatory</a:t>
            </a:r>
            <a:br>
              <a:rPr dirty="0"/>
            </a:br>
            <a:r>
              <a:rPr dirty="0"/>
              <a:t>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75688" y="1554480"/>
            <a:ext cx="1508760" cy="59436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40279" y="2450592"/>
            <a:ext cx="1213409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Category, priority</a:t>
            </a:r>
            <a:br>
              <a:rPr dirty="0"/>
            </a:br>
            <a:r>
              <a:rPr dirty="0"/>
              <a:t>&amp; routing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2736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39896" y="1554480"/>
            <a:ext cx="1508760" cy="59436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9896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4486" y="2450592"/>
            <a:ext cx="1335025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741"/>
                </a:solidFill>
                <a:latin typeface="Aptos"/>
              </a:rPr>
              <a:t>Remote diagnosis</a:t>
            </a:r>
            <a:br/>
            <a:r>
              <a:t>first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66944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04104" y="1554480"/>
            <a:ext cx="1508760" cy="59436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4104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68695" y="2450592"/>
            <a:ext cx="1213409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FS decision</a:t>
            </a:r>
            <a:br>
              <a:rPr dirty="0"/>
            </a:br>
            <a:r>
              <a:rPr dirty="0"/>
              <a:t>criteria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31152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68312" y="1554480"/>
            <a:ext cx="1508760" cy="594360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32903" y="2450592"/>
            <a:ext cx="1213409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Handover</a:t>
            </a:r>
            <a:br>
              <a:rPr dirty="0"/>
            </a:br>
            <a:r>
              <a:rPr dirty="0"/>
              <a:t>readiness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60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32520" y="1554480"/>
            <a:ext cx="1508760" cy="59436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97111" y="2450592"/>
            <a:ext cx="1213409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Status &amp;</a:t>
            </a:r>
            <a:br>
              <a:rPr dirty="0"/>
            </a:br>
            <a:r>
              <a:rPr dirty="0"/>
              <a:t>result feedback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59568" y="2834640"/>
            <a:ext cx="13716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96728" y="1554480"/>
            <a:ext cx="1508760" cy="59436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96728" y="2286000"/>
            <a:ext cx="150876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2450592"/>
            <a:ext cx="1179576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D3741"/>
                </a:solidFill>
                <a:latin typeface="Aptos"/>
              </a:rPr>
              <a:t>Closure</a:t>
            </a:r>
            <a:br>
              <a:rPr dirty="0"/>
            </a:br>
            <a:r>
              <a:rPr dirty="0"/>
              <a:t>criteria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977639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Expected process benefits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72000"/>
            <a:ext cx="1874519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2D3741"/>
                </a:solidFill>
                <a:latin typeface="Aptos"/>
              </a:rPr>
              <a:t>Fewer clarification</a:t>
            </a:r>
            <a:br>
              <a:rPr dirty="0"/>
            </a:br>
            <a:r>
              <a:rPr lang="de-DE">
                <a:solidFill>
                  <a:srgbClr val="000000"/>
                </a:solidFill>
              </a:rPr>
              <a:t>loops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4572000"/>
            <a:ext cx="1874519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741"/>
                </a:solidFill>
                <a:latin typeface="Aptos"/>
              </a:rPr>
              <a:t>Lower reassignment</a:t>
            </a:r>
            <a:br/>
            <a:r>
              <a:rPr lang="de-DE">
                <a:solidFill>
                  <a:srgbClr val="000000"/>
                </a:solidFill>
              </a:rPr>
              <a:t>effort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66360" y="4572000"/>
            <a:ext cx="1874519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741"/>
                </a:solidFill>
                <a:latin typeface="Aptos"/>
              </a:rPr>
              <a:t>Better FS planning</a:t>
            </a:r>
            <a:br/>
            <a:r>
              <a:rPr lang="de-DE">
                <a:solidFill>
                  <a:srgbClr val="000000"/>
                </a:solidFill>
              </a:rPr>
              <a:t>readiness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572000"/>
            <a:ext cx="1874519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741"/>
                </a:solidFill>
                <a:latin typeface="Aptos"/>
              </a:rPr>
              <a:t>Improved status</a:t>
            </a:r>
            <a:br/>
            <a:r>
              <a:rPr lang="de-DE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572000"/>
            <a:ext cx="1874519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741"/>
                </a:solidFill>
                <a:latin typeface="Aptos"/>
              </a:rPr>
              <a:t>Consistent</a:t>
            </a:r>
            <a:br/>
            <a:r>
              <a:rPr lang="de-DE">
                <a:solidFill>
                  <a:srgbClr val="000000"/>
                </a:solidFill>
              </a:rPr>
              <a:t>closure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6. Requirements &amp;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Connecting the business problem to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00200" cy="914400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FG-05</a:t>
            </a:r>
            <a:br/>
            <a:r>
              <a:t>Routing Gap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21408" y="2286000"/>
            <a:ext cx="22860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1828800"/>
            <a:ext cx="1600200" cy="91440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BR-04</a:t>
            </a:r>
            <a:br/>
            <a:r>
              <a:t>Correct Team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1648" y="2286000"/>
            <a:ext cx="22860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828800"/>
            <a:ext cx="1600200" cy="91440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FR-05</a:t>
            </a:r>
            <a:br/>
            <a:r>
              <a:t>Routing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1888" y="2286000"/>
            <a:ext cx="22860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828800"/>
            <a:ext cx="1600200" cy="91440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SCSI-9</a:t>
            </a:r>
            <a:br/>
            <a:r>
              <a:t>Jira 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82127" y="2286000"/>
            <a:ext cx="22860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83879" y="1828800"/>
            <a:ext cx="1600200" cy="91440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AC</a:t>
            </a:r>
            <a:br/>
            <a:r>
              <a:t>Given–When–Then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367" y="2286000"/>
            <a:ext cx="228600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19" y="1828800"/>
            <a:ext cx="1600200" cy="91440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UAT-02</a:t>
            </a:r>
            <a:br/>
            <a:r>
              <a:t>Verify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3741"/>
                </a:solidFill>
                <a:latin typeface="Aptos"/>
              </a:rPr>
              <a:t>Every change remains traceable to a real process need, with clear acceptance conditions and a business validation scenario.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32918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270248"/>
            <a:ext cx="2962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Aptos"/>
              </a:rPr>
              <a:t>BUSINESS REQUIREMENT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663440"/>
            <a:ext cx="29626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3741"/>
                </a:solidFill>
                <a:latin typeface="Aptos"/>
              </a:rPr>
              <a:t>What the business needs and why.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60520"/>
            <a:ext cx="32918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1" y="4270248"/>
            <a:ext cx="2962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8E8C"/>
                </a:solidFill>
                <a:latin typeface="Aptos"/>
              </a:rPr>
              <a:t>FUNCTIONAL 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1" y="4663440"/>
            <a:ext cx="29626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3741"/>
                </a:solidFill>
                <a:latin typeface="Aptos"/>
              </a:rPr>
              <a:t>What the solution/</a:t>
            </a:r>
            <a:r>
              <a:rPr sz="1400" dirty="0">
                <a:solidFill>
                  <a:srgbClr val="2D3741"/>
                </a:solidFill>
                <a:latin typeface="Aptos"/>
              </a:rPr>
              <a:t>process</a:t>
            </a:r>
            <a:r>
              <a:rPr sz="1400" b="0" dirty="0">
                <a:solidFill>
                  <a:srgbClr val="2D3741"/>
                </a:solidFill>
                <a:latin typeface="Aptos"/>
              </a:rPr>
              <a:t> must do</a:t>
            </a:r>
            <a:r>
              <a:rPr sz="1100" b="0" dirty="0">
                <a:solidFill>
                  <a:srgbClr val="2D3741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160520"/>
            <a:ext cx="32918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4270248"/>
            <a:ext cx="2962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29966"/>
                </a:solidFill>
                <a:latin typeface="Aptos"/>
              </a:rPr>
              <a:t>UAT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663440"/>
            <a:ext cx="296265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3741"/>
                </a:solidFill>
                <a:latin typeface="Aptos"/>
              </a:rPr>
              <a:t>Business verifies implemented behavior</a:t>
            </a:r>
            <a:r>
              <a:rPr sz="1100" b="0" dirty="0">
                <a:solidFill>
                  <a:srgbClr val="2D3741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989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122A42"/>
                </a:solidFill>
                <a:latin typeface="Aptos"/>
              </a:rPr>
              <a:t>7. Jira </a:t>
            </a:r>
            <a:r>
              <a:rPr lang="de-DE" sz="2800" b="1" dirty="0">
                <a:solidFill>
                  <a:srgbClr val="122A42"/>
                </a:solidFill>
                <a:latin typeface="Aptos"/>
              </a:rPr>
              <a:t>Change-Management</a:t>
            </a:r>
            <a:endParaRPr sz="28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6C7780"/>
                </a:solidFill>
                <a:latin typeface="Aptos"/>
              </a:rPr>
              <a:t>Representative portfolio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19"/>
            <a:ext cx="3429000" cy="969265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EPIC: SAP Customer Service</a:t>
            </a:r>
            <a:br>
              <a:rPr dirty="0"/>
            </a:br>
            <a:r>
              <a:rPr dirty="0"/>
              <a:t>Process Transition &amp;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1295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461295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Mandatory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395728"/>
            <a:ext cx="1325880" cy="384048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1647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991647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Case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926080"/>
            <a:ext cx="1325880" cy="384048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1999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521999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Remote vs FS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456432"/>
            <a:ext cx="1325880" cy="384048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52350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052350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FS handover/readiness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986783"/>
            <a:ext cx="1325880" cy="384048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82703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582703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FS status/results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517136"/>
            <a:ext cx="1325880" cy="384048"/>
          </a:xfrm>
          <a:prstGeom prst="roundRect">
            <a:avLst/>
          </a:prstGeom>
          <a:solidFill>
            <a:srgbClr val="6C7780"/>
          </a:solidFill>
          <a:ln>
            <a:solidFill>
              <a:srgbClr val="6C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To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13055"/>
            <a:ext cx="960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1">
                <a:solidFill>
                  <a:srgbClr val="122A42"/>
                </a:solidFill>
                <a:latin typeface="Aptos"/>
              </a:rPr>
              <a:t>SCSI-13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113055"/>
            <a:ext cx="4023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Case closure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5047488"/>
            <a:ext cx="1325880" cy="384048"/>
          </a:xfrm>
          <a:prstGeom prst="roundRect">
            <a:avLst/>
          </a:prstGeom>
          <a:solidFill>
            <a:srgbClr val="6C7780"/>
          </a:solidFill>
          <a:ln>
            <a:solidFill>
              <a:srgbClr val="6C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FFFFFF"/>
                </a:solidFill>
                <a:latin typeface="Aptos"/>
              </a:rPr>
              <a:t>To 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1508760"/>
            <a:ext cx="3429000" cy="4507992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74152" y="1618488"/>
            <a:ext cx="3099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Aptos"/>
              </a:rPr>
              <a:t>SCSI-9 CASE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011680"/>
            <a:ext cx="3099816" cy="3693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b="0">
                <a:solidFill>
                  <a:srgbClr val="2D3741"/>
                </a:solidFill>
                <a:latin typeface="Aptos"/>
              </a:rPr>
              <a:t>Business context</a:t>
            </a:r>
            <a:br>
              <a:rPr dirty="0"/>
            </a:br>
            <a:r>
              <a:rPr dirty="0"/>
              <a:t>Incorrect assignments create manual reassignment.</a:t>
            </a:r>
            <a:br>
              <a:rPr dirty="0"/>
            </a:br>
            <a:br>
              <a:rPr dirty="0"/>
            </a:br>
            <a:r>
              <a:rPr dirty="0"/>
              <a:t>Business value</a:t>
            </a:r>
            <a:br>
              <a:rPr dirty="0"/>
            </a:br>
            <a:r>
              <a:rPr dirty="0"/>
              <a:t>Reduce avoidable effort and delay.</a:t>
            </a:r>
            <a:br>
              <a:rPr dirty="0"/>
            </a:br>
            <a:br>
              <a:rPr dirty="0"/>
            </a:br>
            <a:r>
              <a:rPr dirty="0"/>
              <a:t>Acceptance criteria</a:t>
            </a:r>
            <a:br>
              <a:rPr dirty="0"/>
            </a:br>
            <a:r>
              <a:rPr dirty="0"/>
              <a:t>Given a defined category, when routing executes, then assign to the approved responsible team.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75411"/>
            <a:ext cx="105156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 dirty="0">
                <a:solidFill>
                  <a:srgbClr val="6C7780"/>
                </a:solidFill>
                <a:latin typeface="Aptos"/>
              </a:rPr>
              <a:t>Workflow statuses are simulated for portfolio demonstration.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8. UAT, Release &amp; Hypercare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From business validation to controlled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417320" cy="713232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UAT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67128" y="1600200"/>
            <a:ext cx="1417320" cy="713232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</a:t>
            </a:r>
            <a:br/>
            <a:r>
              <a:t>Approval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2736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31336" y="1600200"/>
            <a:ext cx="1417320" cy="713232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Release</a:t>
            </a:r>
            <a:br/>
            <a:r>
              <a:t>Readiness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66944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95544" y="1600200"/>
            <a:ext cx="1417320" cy="713232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Production</a:t>
            </a:r>
            <a:br/>
            <a:r>
              <a:t>Deployment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31152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59752" y="1600200"/>
            <a:ext cx="1417320" cy="713232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1600200"/>
            <a:ext cx="1417320" cy="713232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Hypercare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59568" y="1956816"/>
            <a:ext cx="192024" cy="0"/>
          </a:xfrm>
          <a:prstGeom prst="line">
            <a:avLst/>
          </a:prstGeom>
          <a:ln w="20320">
            <a:solidFill>
              <a:srgbClr val="6C7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488168" y="1600200"/>
            <a:ext cx="1417320" cy="713232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Normal</a:t>
            </a:r>
            <a:br/>
            <a:r>
              <a:t>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3429000" cy="20574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2990088"/>
            <a:ext cx="3099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770B1"/>
                </a:solidFill>
                <a:latin typeface="Aptos"/>
              </a:rPr>
              <a:t>UAT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383280"/>
            <a:ext cx="309981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Mandatory information</a:t>
            </a:r>
            <a:br/>
            <a:r>
              <a:rPr lang="de-DE" sz="1400"/>
              <a:t>Case routing</a:t>
            </a:r>
            <a:br/>
            <a:r>
              <a:rPr lang="de-DE" sz="1400"/>
              <a:t>Remote vs Field Service</a:t>
            </a:r>
            <a:br/>
            <a:r>
              <a:rPr lang="de-DE" sz="1400"/>
              <a:t>FS readiness</a:t>
            </a:r>
            <a:br/>
            <a:r>
              <a:rPr lang="de-DE" sz="1400"/>
              <a:t>Status/result visibility</a:t>
            </a:r>
            <a:br/>
            <a:r>
              <a:rPr lang="de-DE" sz="1400"/>
              <a:t>Closure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80360"/>
            <a:ext cx="3429000" cy="20574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2990088"/>
            <a:ext cx="3099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E8E37"/>
                </a:solidFill>
                <a:latin typeface="Aptos"/>
              </a:rPr>
              <a:t>RELEASE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383280"/>
            <a:ext cx="309981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Approved scope</a:t>
            </a:r>
            <a:br/>
            <a:r>
              <a:rPr lang="de-DE" sz="1400"/>
              <a:t>Testing status</a:t>
            </a:r>
            <a:br/>
            <a:r>
              <a:rPr lang="de-DE" sz="1400"/>
              <a:t>Critical defects</a:t>
            </a:r>
            <a:br/>
            <a:r>
              <a:rPr lang="de-DE" sz="1400"/>
              <a:t>Documentation</a:t>
            </a:r>
            <a:br/>
            <a:r>
              <a:rPr lang="de-DE" sz="1400"/>
              <a:t>Communication</a:t>
            </a:r>
            <a:br/>
            <a:r>
              <a:rPr lang="de-DE" sz="1400"/>
              <a:t>Support &amp; contingency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80360"/>
            <a:ext cx="3429000" cy="2057400"/>
          </a:xfrm>
          <a:prstGeom prst="roundRect">
            <a:avLst/>
          </a:prstGeom>
          <a:solidFill>
            <a:srgbClr val="F2F6F9"/>
          </a:solidFill>
          <a:ln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11312" y="2990088"/>
            <a:ext cx="3099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BE4E4E"/>
                </a:solidFill>
                <a:latin typeface="Aptos"/>
              </a:rPr>
              <a:t>HYPERCARE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383280"/>
            <a:ext cx="309981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400" b="0">
                <a:solidFill>
                  <a:srgbClr val="2D3741"/>
                </a:solidFill>
                <a:latin typeface="Aptos"/>
              </a:rPr>
              <a:t>User issues</a:t>
            </a:r>
            <a:br/>
            <a:r>
              <a:rPr lang="de-DE" sz="1400"/>
              <a:t>Routing problems</a:t>
            </a:r>
            <a:br/>
            <a:r>
              <a:rPr lang="de-DE" sz="1400"/>
              <a:t>Integration issues</a:t>
            </a:r>
            <a:br/>
            <a:r>
              <a:rPr lang="de-DE" sz="1400"/>
              <a:t>FS handover problems</a:t>
            </a:r>
            <a:br/>
            <a:r>
              <a:rPr lang="de-DE" sz="1400"/>
              <a:t>Feedback &amp; corrections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D3741"/>
                </a:solidFill>
                <a:latin typeface="Aptos"/>
              </a:rPr>
              <a:t>Role boundary: SAP teams deploy; the Application Process Manager coordinates business readiness, validation, communication and post-go-live process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22A42"/>
                </a:solidFill>
                <a:latin typeface="Aptos"/>
              </a:rPr>
              <a:t>9. Business Value &amp;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6C7780"/>
                </a:solidFill>
                <a:latin typeface="Aptos"/>
              </a:rPr>
              <a:t>How the future process could be monitored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965960" cy="109728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t>Clarification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417320"/>
            <a:ext cx="1965960" cy="109728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↓</a:t>
            </a:r>
            <a:br/>
            <a:r>
              <a:t>Manual reassignment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17320"/>
            <a:ext cx="1965960" cy="109728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↑</a:t>
            </a:r>
            <a:br/>
            <a:r>
              <a:t>FS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417320"/>
            <a:ext cx="1965960" cy="109728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↑</a:t>
            </a:r>
            <a:br/>
            <a:r>
              <a:t>Status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417320"/>
            <a:ext cx="1965960" cy="109728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↑</a:t>
            </a:r>
            <a:br/>
            <a:r>
              <a:t>Closure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2"/>
                </a:solidFill>
                <a:latin typeface="Aptos"/>
              </a:rPr>
              <a:t>Illustrative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Case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520440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First response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520440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Resolution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520440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Reassignment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33672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SLA compliance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233672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FS handover rework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4233672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Remote-resolution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233672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FS escalation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46904"/>
            <a:ext cx="22402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F2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>
                <a:solidFill>
                  <a:srgbClr val="2D3741"/>
                </a:solidFill>
                <a:latin typeface="Aptos"/>
              </a:rPr>
              <a:t>Closure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44575"/>
            <a:ext cx="106070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2D3741"/>
                </a:solidFill>
                <a:latin typeface="Aptos"/>
              </a:rPr>
              <a:t>Final KPI definitions and targets would be agreed with business and process owners.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10.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C2DCEF"/>
                </a:solidFill>
                <a:latin typeface="Aptos"/>
              </a:rPr>
              <a:t>A complete Application Process Management lifecycle in one portfolio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2057400" cy="1143000"/>
          </a:xfrm>
          <a:prstGeom prst="roundRect">
            <a:avLst/>
          </a:prstGeom>
          <a:solidFill>
            <a:srgbClr val="2770B1"/>
          </a:solidFill>
          <a:ln>
            <a:solidFill>
              <a:srgbClr val="27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PROCESS</a:t>
            </a:r>
            <a:br/>
            <a:r>
              <a:t>AS-IS / TO-BE</a:t>
            </a:r>
            <a:br/>
            <a:r>
              <a:t>BPMN • Signavio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2743200"/>
            <a:ext cx="2057400" cy="1143000"/>
          </a:xfrm>
          <a:prstGeom prst="roundRect">
            <a:avLst/>
          </a:prstGeom>
          <a:solidFill>
            <a:srgbClr val="DE8E37"/>
          </a:solidFill>
          <a:ln>
            <a:solidFill>
              <a:srgbClr val="D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ANALYSIS</a:t>
            </a:r>
            <a:br/>
            <a:r>
              <a:t>Fit-Gap</a:t>
            </a:r>
            <a:br/>
            <a:r>
              <a:t>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1224" y="2743200"/>
            <a:ext cx="2057400" cy="1143000"/>
          </a:xfrm>
          <a:prstGeom prst="roundRect">
            <a:avLst/>
          </a:prstGeom>
          <a:solidFill>
            <a:srgbClr val="248E8C"/>
          </a:solidFill>
          <a:ln>
            <a:solidFill>
              <a:srgbClr val="248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REQUIREMENTS</a:t>
            </a:r>
            <a:br/>
            <a:r>
              <a:t>BR / FR</a:t>
            </a:r>
            <a:br/>
            <a:r>
              <a:t>Traceability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88936" y="2743200"/>
            <a:ext cx="2057400" cy="1143000"/>
          </a:xfrm>
          <a:prstGeom prst="roundRect">
            <a:avLst/>
          </a:prstGeom>
          <a:solidFill>
            <a:srgbClr val="529966"/>
          </a:solidFill>
          <a:ln>
            <a:solidFill>
              <a:srgbClr val="52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CHANGE</a:t>
            </a:r>
            <a:br/>
            <a:r>
              <a:t>Jira Stories</a:t>
            </a:r>
            <a:br/>
            <a:r>
              <a:t>Acceptance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56648" y="2743200"/>
            <a:ext cx="2057400" cy="1143000"/>
          </a:xfrm>
          <a:prstGeom prst="roundRect">
            <a:avLst/>
          </a:prstGeom>
          <a:solidFill>
            <a:srgbClr val="BE4E4E"/>
          </a:solidFill>
          <a:ln>
            <a:solidFill>
              <a:srgbClr val="B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VALIDATION</a:t>
            </a:r>
            <a:br/>
            <a:r>
              <a:t>UAT</a:t>
            </a:r>
            <a:br/>
            <a:r>
              <a:t>Release • Hypercare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Positioning: self-developed portfolio case study demonstrating methodology and process/application-management capability—not productive SAP implementation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C2DCEF"/>
                </a:solidFill>
                <a:latin typeface="Aptos"/>
              </a:rPr>
              <a:t>AS-IS → Fit-Gap → TO-BE → Requirements → Jira → UAT → Release → Hypercare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C7780"/>
                </a:solidFill>
                <a:latin typeface="Aptos"/>
              </a:rPr>
              <a:t>Self-developed portfolio case study • Simulated SAP transition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28232"/>
            <a:ext cx="320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C77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195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Samprit Srivastava</cp:lastModifiedBy>
  <cp:revision>2</cp:revision>
  <dcterms:created xsi:type="dcterms:W3CDTF">2013-01-27T09:14:16Z</dcterms:created>
  <dcterms:modified xsi:type="dcterms:W3CDTF">2026-09-05T20:04:24Z</dcterms:modified>
  <cp:category/>
</cp:coreProperties>
</file>